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318" r:id="rId4"/>
    <p:sldId id="319" r:id="rId5"/>
    <p:sldId id="264" r:id="rId6"/>
    <p:sldId id="268" r:id="rId7"/>
    <p:sldId id="270" r:id="rId8"/>
    <p:sldId id="281" r:id="rId9"/>
    <p:sldId id="320" r:id="rId10"/>
    <p:sldId id="283" r:id="rId11"/>
    <p:sldId id="321" r:id="rId12"/>
    <p:sldId id="299" r:id="rId13"/>
    <p:sldId id="315" r:id="rId14"/>
    <p:sldId id="322" r:id="rId15"/>
    <p:sldId id="289" r:id="rId16"/>
    <p:sldId id="295" r:id="rId17"/>
    <p:sldId id="323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FE5"/>
    <a:srgbClr val="8C8C8C"/>
    <a:srgbClr val="A5A5A5"/>
    <a:srgbClr val="3E719B"/>
    <a:srgbClr val="EE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2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68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81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25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852C1-8D9A-BDA8-F92E-0F9DFF0FE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AD4FE-9444-EACD-3E20-280F33346F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/>
              <a:t>В исследовании я использовал датасет Amazon Delivery с более чем 43 тысячами записей о заказах.</a:t>
            </a:r>
            <a:br>
              <a:rPr lang="en-US">
                <a:cs typeface="Calibri"/>
              </a:rPr>
            </a:br>
            <a:r>
              <a:rPr lang="en-US"/>
              <a:t>Работа велась в Jupyter Notebook на Python.</a:t>
            </a:r>
            <a:br>
              <a:rPr lang="en-US">
                <a:cs typeface="Calibri"/>
              </a:rPr>
            </a:br>
            <a:r>
              <a:rPr lang="en-US"/>
              <a:t>Использовались библиотеки для анализа данных, визуализации и построения моделей.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0D8D8-B4D7-823B-187B-554B2C655F5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0E86123-AF4D-4B6E-97C9-B4F7D0573960}" type="slidenum"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88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70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90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6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jpe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4.png"/><Relationship Id="rId10" Type="http://schemas.openxmlformats.org/officeDocument/2006/relationships/image" Target="../media/image26.png"/><Relationship Id="rId4" Type="http://schemas.openxmlformats.org/officeDocument/2006/relationships/image" Target="../media/image21.sv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.png"/><Relationship Id="rId4" Type="http://schemas.openxmlformats.org/officeDocument/2006/relationships/image" Target="../media/image31.sv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2.sv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8.svg"/><Relationship Id="rId10" Type="http://schemas.openxmlformats.org/officeDocument/2006/relationships/image" Target="../media/image55.png"/><Relationship Id="rId4" Type="http://schemas.openxmlformats.org/officeDocument/2006/relationships/image" Target="../media/image7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61.sv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8.svg"/><Relationship Id="rId10" Type="http://schemas.openxmlformats.org/officeDocument/2006/relationships/image" Target="../media/image64.png"/><Relationship Id="rId4" Type="http://schemas.openxmlformats.org/officeDocument/2006/relationships/image" Target="../media/image7.png"/><Relationship Id="rId9" Type="http://schemas.openxmlformats.org/officeDocument/2006/relationships/image" Target="../media/image6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1.png"/><Relationship Id="rId4" Type="http://schemas.openxmlformats.org/officeDocument/2006/relationships/image" Target="../media/image68.sv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ite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3" name="Logo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84996" y="1333500"/>
            <a:ext cx="8422049" cy="7429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1428750"/>
            <a:ext cx="7896225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FFFFFF"/>
                </a:solidFill>
                <a:latin typeface="Nunito ExtraBold" pitchFamily="2" charset="-52"/>
                <a:ea typeface="Nunito Bold" pitchFamily="34" charset="-122"/>
                <a:cs typeface="Nunito Bold" pitchFamily="34" charset="-120"/>
              </a:rPr>
              <a:t>Реализация алгоритма классификации с помощью </a:t>
            </a:r>
            <a:r>
              <a:rPr lang="en-US" sz="4800" b="1" dirty="0">
                <a:solidFill>
                  <a:srgbClr val="FFFFFF"/>
                </a:solidFill>
                <a:latin typeface="Nunito ExtraBold" pitchFamily="2" charset="-52"/>
                <a:ea typeface="Nunito Bold" pitchFamily="34" charset="-122"/>
                <a:cs typeface="Nunito Bold" pitchFamily="34" charset="-120"/>
              </a:rPr>
              <a:t>k </a:t>
            </a:r>
            <a:r>
              <a:rPr lang="ru-RU" sz="4800" b="1" dirty="0">
                <a:solidFill>
                  <a:srgbClr val="FFFFFF"/>
                </a:solidFill>
                <a:latin typeface="Nunito ExtraBold" pitchFamily="2" charset="-52"/>
                <a:ea typeface="Nunito Bold" pitchFamily="34" charset="-122"/>
                <a:cs typeface="Nunito Bold" pitchFamily="34" charset="-120"/>
              </a:rPr>
              <a:t>ближайших соседей</a:t>
            </a:r>
            <a:endParaRPr lang="en-US" sz="4800" dirty="0">
              <a:latin typeface="Nunito ExtraBold" pitchFamily="2" charset="-5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62ECA-43B0-DF4F-B240-4E9DE17434E9}"/>
              </a:ext>
            </a:extLst>
          </p:cNvPr>
          <p:cNvSpPr txBox="1"/>
          <p:nvPr/>
        </p:nvSpPr>
        <p:spPr>
          <a:xfrm>
            <a:off x="714375" y="7657921"/>
            <a:ext cx="44133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Nunito ExtraBold" pitchFamily="2" charset="-52"/>
              </a:rPr>
              <a:t>Выполнил работу:</a:t>
            </a:r>
            <a:br>
              <a:rPr lang="ru-RU" sz="3600" dirty="0">
                <a:solidFill>
                  <a:schemeClr val="bg1"/>
                </a:solidFill>
                <a:latin typeface="Nunito ExtraBold" pitchFamily="2" charset="-52"/>
              </a:rPr>
            </a:br>
            <a:r>
              <a:rPr lang="ru-RU" sz="3600" dirty="0">
                <a:solidFill>
                  <a:schemeClr val="bg1"/>
                </a:solidFill>
                <a:latin typeface="Nunito ExtraBold" pitchFamily="2" charset="-52"/>
              </a:rPr>
              <a:t>Марин Виктор</a:t>
            </a:r>
          </a:p>
        </p:txBody>
      </p:sp>
      <p:pic>
        <p:nvPicPr>
          <p:cNvPr id="1030" name="Picture 6" descr="лило и стич на прозрачном фоне 25 фото">
            <a:extLst>
              <a:ext uri="{FF2B5EF4-FFF2-40B4-BE49-F238E27FC236}">
                <a16:creationId xmlns:a16="http://schemas.microsoft.com/office/drawing/2014/main" id="{F5FFAB15-9306-4573-D38D-5A664B517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496" b="96654" l="9753" r="89973">
                        <a14:foregroundMark x1="31456" y1="92126" x2="31456" y2="92126"/>
                        <a14:foregroundMark x1="53571" y1="94094" x2="53571" y2="94094"/>
                        <a14:foregroundMark x1="70742" y1="96260" x2="70742" y2="96260"/>
                        <a14:foregroundMark x1="55907" y1="96654" x2="55907" y2="96654"/>
                        <a14:foregroundMark x1="34066" y1="96457" x2="34066" y2="96457"/>
                        <a14:foregroundMark x1="29396" y1="96654" x2="29396" y2="96654"/>
                        <a14:foregroundMark x1="54533" y1="13189" x2="54533" y2="13189"/>
                        <a14:foregroundMark x1="60027" y1="6496" x2="60027" y2="6496"/>
                        <a14:foregroundMark x1="35989" y1="35827" x2="35989" y2="35827"/>
                        <a14:foregroundMark x1="54670" y1="42520" x2="54670" y2="42520"/>
                        <a14:foregroundMark x1="74313" y1="28740" x2="74313" y2="28740"/>
                        <a14:foregroundMark x1="57830" y1="32480" x2="57830" y2="32480"/>
                        <a14:foregroundMark x1="75000" y1="39567" x2="75000" y2="395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825" y="6385103"/>
            <a:ext cx="5321658" cy="371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1266" y="24953"/>
            <a:ext cx="3252318" cy="158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0"/>
              </a:lnSpc>
              <a:buNone/>
            </a:pPr>
            <a:r>
              <a:rPr lang="ru-RU" sz="4800" b="1" dirty="0">
                <a:solidFill>
                  <a:srgbClr val="000000"/>
                </a:solidFill>
                <a:latin typeface="Nunito ExtraBold" pitchFamily="2" charset="-52"/>
                <a:ea typeface="Nunito Bold" pitchFamily="34" charset="-122"/>
                <a:cs typeface="Nunito Bold" pitchFamily="34" charset="-120"/>
              </a:rPr>
              <a:t>Введение</a:t>
            </a:r>
            <a:endParaRPr lang="en-US" sz="4800" dirty="0">
              <a:latin typeface="Nunito ExtraBold" pitchFamily="2" charset="-5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6" name="Рисунок 5" descr="Список со сплошной заливкой">
            <a:extLst>
              <a:ext uri="{FF2B5EF4-FFF2-40B4-BE49-F238E27FC236}">
                <a16:creationId xmlns:a16="http://schemas.microsoft.com/office/drawing/2014/main" id="{F12611C1-D512-26CE-F335-AEA95A28C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2867" y="176682"/>
            <a:ext cx="1281448" cy="12814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4DDEF3-0CAC-0BB0-6121-D3CFE6A779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20" y="1728787"/>
            <a:ext cx="7704142" cy="3680340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C86DA6-0750-ED9C-C25F-D572DA4E83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0" y="1728787"/>
            <a:ext cx="8248650" cy="682942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3C1344-0731-5B5D-3CDE-210809FD2219}"/>
              </a:ext>
            </a:extLst>
          </p:cNvPr>
          <p:cNvSpPr txBox="1"/>
          <p:nvPr/>
        </p:nvSpPr>
        <p:spPr>
          <a:xfrm>
            <a:off x="989398" y="2096511"/>
            <a:ext cx="67639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kern="0" dirty="0">
                <a:effectLst/>
                <a:latin typeface="Nunito Bold" pitchFamily="2" charset="-52"/>
                <a:ea typeface="Aptos" panose="020B0004020202020204" pitchFamily="34" charset="0"/>
              </a:rPr>
              <a:t>Цель работы заключается в реализации алгоритма </a:t>
            </a:r>
            <a:r>
              <a:rPr lang="ru-RU" sz="3200" kern="0" dirty="0" err="1">
                <a:effectLst/>
                <a:latin typeface="Nunito Bold" pitchFamily="2" charset="-52"/>
                <a:ea typeface="Aptos" panose="020B0004020202020204" pitchFamily="34" charset="0"/>
              </a:rPr>
              <a:t>kNN</a:t>
            </a:r>
            <a:r>
              <a:rPr lang="ru-RU" sz="3200" kern="0" dirty="0">
                <a:effectLst/>
                <a:latin typeface="Nunito Bold" pitchFamily="2" charset="-52"/>
                <a:ea typeface="Aptos" panose="020B0004020202020204" pitchFamily="34" charset="0"/>
              </a:rPr>
              <a:t> для решения задачи классификации и влияния параметров алгоритма на качество результатов.</a:t>
            </a:r>
            <a:endParaRPr lang="ru-RU" sz="3200" dirty="0">
              <a:latin typeface="Nunito Bold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57AE1-159B-E83C-ADFE-7D1FC121B10C}"/>
              </a:ext>
            </a:extLst>
          </p:cNvPr>
          <p:cNvSpPr txBox="1"/>
          <p:nvPr/>
        </p:nvSpPr>
        <p:spPr>
          <a:xfrm>
            <a:off x="9404663" y="1973400"/>
            <a:ext cx="7727324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latin typeface="Nunito Bold" pitchFamily="2" charset="-52"/>
              </a:rPr>
              <a:t>Задачи работы</a:t>
            </a:r>
          </a:p>
          <a:p>
            <a:pPr marL="360000" indent="-360000">
              <a:buFont typeface="+mj-lt"/>
              <a:buAutoNum type="arabicPeriod"/>
            </a:pPr>
            <a:r>
              <a:rPr lang="ru-RU" sz="2800" kern="0" dirty="0">
                <a:effectLst/>
                <a:latin typeface="Nunito Bold" pitchFamily="2" charset="-52"/>
                <a:ea typeface="Aptos" panose="020B0004020202020204" pitchFamily="34" charset="0"/>
              </a:rPr>
              <a:t>Изучить теоретические основы метода ближайших соседей, определить преимущества и недостатки.</a:t>
            </a:r>
          </a:p>
          <a:p>
            <a:pPr marL="360000" indent="-360000">
              <a:buFont typeface="+mj-lt"/>
              <a:buAutoNum type="arabicPeriod"/>
            </a:pPr>
            <a:r>
              <a:rPr lang="ru-RU" sz="2800" kern="0" dirty="0">
                <a:effectLst/>
                <a:latin typeface="Nunito Bold" pitchFamily="2" charset="-52"/>
                <a:ea typeface="Aptos" panose="020B0004020202020204" pitchFamily="34" charset="0"/>
              </a:rPr>
              <a:t>Рассмотреть влияние ключевых параметров алгоритма на итоговое качество классификации.</a:t>
            </a:r>
          </a:p>
          <a:p>
            <a:pPr marL="360000" indent="-360000">
              <a:buFont typeface="+mj-lt"/>
              <a:buAutoNum type="arabicPeriod"/>
            </a:pPr>
            <a:r>
              <a:rPr lang="ru-RU" sz="2800" kern="0" dirty="0">
                <a:effectLst/>
                <a:latin typeface="Nunito Bold" pitchFamily="2" charset="-52"/>
                <a:ea typeface="Aptos" panose="020B0004020202020204" pitchFamily="34" charset="0"/>
              </a:rPr>
              <a:t>Реализовать программную модель алгоритма </a:t>
            </a:r>
            <a:r>
              <a:rPr lang="ru-RU" sz="2800" kern="0" dirty="0" err="1">
                <a:effectLst/>
                <a:latin typeface="Nunito Bold" pitchFamily="2" charset="-52"/>
                <a:ea typeface="Aptos" panose="020B0004020202020204" pitchFamily="34" charset="0"/>
              </a:rPr>
              <a:t>kNN</a:t>
            </a:r>
            <a:r>
              <a:rPr lang="ru-RU" sz="2800" kern="0" dirty="0">
                <a:effectLst/>
                <a:latin typeface="Nunito Bold" pitchFamily="2" charset="-52"/>
                <a:ea typeface="Aptos" panose="020B0004020202020204" pitchFamily="34" charset="0"/>
              </a:rPr>
              <a:t> для конкретной выборки данных.</a:t>
            </a:r>
          </a:p>
          <a:p>
            <a:pPr marL="360000" indent="-360000">
              <a:buFont typeface="+mj-lt"/>
              <a:buAutoNum type="arabicPeriod"/>
            </a:pPr>
            <a:r>
              <a:rPr lang="ru-RU" sz="2800" kern="0" dirty="0">
                <a:effectLst/>
                <a:latin typeface="Nunito Bold" pitchFamily="2" charset="-52"/>
                <a:ea typeface="Aptos" panose="020B0004020202020204" pitchFamily="34" charset="0"/>
              </a:rPr>
              <a:t>Провести экспериментальное исследование, направленное на оценку влияния параметров на результаты классификации</a:t>
            </a:r>
            <a:endParaRPr lang="ru-RU" sz="2800" dirty="0">
              <a:latin typeface="Nunito Bold" pitchFamily="2" charset="-52"/>
            </a:endParaRPr>
          </a:p>
        </p:txBody>
      </p:sp>
      <p:pic>
        <p:nvPicPr>
          <p:cNvPr id="12" name="Рисунок 11" descr="Компьютер со сплошной заливкой">
            <a:extLst>
              <a:ext uri="{FF2B5EF4-FFF2-40B4-BE49-F238E27FC236}">
                <a16:creationId xmlns:a16="http://schemas.microsoft.com/office/drawing/2014/main" id="{8CFE6A7D-815B-6FB1-15E3-29A6B501AC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71105" y="7193655"/>
            <a:ext cx="1364557" cy="13645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19" y="268049"/>
            <a:ext cx="6068562" cy="148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0"/>
              </a:lnSpc>
              <a:buNone/>
            </a:pPr>
            <a:r>
              <a:rPr lang="ru-RU" sz="4800" dirty="0">
                <a:latin typeface="Nunito ExtraBold" pitchFamily="2" charset="-52"/>
              </a:rPr>
              <a:t>Актуальность темы</a:t>
            </a:r>
            <a:endParaRPr lang="en-US" sz="4800" dirty="0">
              <a:latin typeface="Nunito ExtraBold" pitchFamily="2" charset="-5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4DDEF3-0CAC-0BB0-6121-D3CFE6A7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19" y="2161247"/>
            <a:ext cx="16396421" cy="507206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Актуальность – Бесплатные иконки: маркетинг">
            <a:extLst>
              <a:ext uri="{FF2B5EF4-FFF2-40B4-BE49-F238E27FC236}">
                <a16:creationId xmlns:a16="http://schemas.microsoft.com/office/drawing/2014/main" id="{E7079A7F-9802-4B08-4975-108F160EE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812" y="585394"/>
            <a:ext cx="1046611" cy="104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0933C8-02B3-3328-2D35-8D59EBF2561F}"/>
              </a:ext>
            </a:extLst>
          </p:cNvPr>
          <p:cNvSpPr txBox="1"/>
          <p:nvPr/>
        </p:nvSpPr>
        <p:spPr>
          <a:xfrm>
            <a:off x="1378425" y="2538484"/>
            <a:ext cx="150671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4000" dirty="0">
                <a:latin typeface="Nunito Bold" pitchFamily="2" charset="-52"/>
              </a:rPr>
              <a:t>Алгоритмы машинного обучения становятся ключевым инструментом для анализа данных в самых разных сферах. Метод k ближайших соседей (k-NN) остаётся актуальным благодаря своей простоте, интерпретируемости и эффективности на небольших и средних наборах данных. Он позволяет быстро строить модели без сложного обучения.</a:t>
            </a:r>
          </a:p>
        </p:txBody>
      </p:sp>
      <p:pic>
        <p:nvPicPr>
          <p:cNvPr id="1028" name="Picture 4" descr="Актуальность – Бесплатные иконки: маркетинг">
            <a:extLst>
              <a:ext uri="{FF2B5EF4-FFF2-40B4-BE49-F238E27FC236}">
                <a16:creationId xmlns:a16="http://schemas.microsoft.com/office/drawing/2014/main" id="{932F5F25-77E8-23AB-D05E-BE8B47520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0735" y="7489066"/>
            <a:ext cx="1660478" cy="166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671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18" y="268049"/>
            <a:ext cx="6556385" cy="148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0"/>
              </a:lnSpc>
              <a:buNone/>
            </a:pPr>
            <a:r>
              <a:rPr lang="ru-RU" sz="4800" dirty="0">
                <a:latin typeface="Nunito ExtraBold" pitchFamily="2" charset="-52"/>
              </a:rPr>
              <a:t>Области применения</a:t>
            </a:r>
            <a:endParaRPr lang="en-US" sz="4800" dirty="0">
              <a:latin typeface="Nunito ExtraBold" pitchFamily="2" charset="-5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4DDEF3-0CAC-0BB0-6121-D3CFE6A7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19" y="2161247"/>
            <a:ext cx="16396421" cy="4480945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0933C8-02B3-3328-2D35-8D59EBF2561F}"/>
              </a:ext>
            </a:extLst>
          </p:cNvPr>
          <p:cNvSpPr txBox="1"/>
          <p:nvPr/>
        </p:nvSpPr>
        <p:spPr>
          <a:xfrm>
            <a:off x="928048" y="2538484"/>
            <a:ext cx="1595423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3600" dirty="0">
                <a:latin typeface="Nunito Bold" pitchFamily="2" charset="-52"/>
              </a:rPr>
              <a:t>Медицина: определение заболевания по симптомам или снимкам.</a:t>
            </a:r>
          </a:p>
          <a:p>
            <a:pPr marL="457200" indent="-457200">
              <a:spcBef>
                <a:spcPts val="600"/>
              </a:spcBef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3600" dirty="0">
                <a:latin typeface="Nunito Bold" pitchFamily="2" charset="-52"/>
              </a:rPr>
              <a:t>Финансы: обнаружение мошенничества, оценка кредитных рисков.</a:t>
            </a:r>
          </a:p>
          <a:p>
            <a:pPr marL="457200" indent="-457200">
              <a:spcBef>
                <a:spcPts val="600"/>
              </a:spcBef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3600" dirty="0">
                <a:latin typeface="Nunito Bold" pitchFamily="2" charset="-52"/>
              </a:rPr>
              <a:t>Маркетинг: сегментация клиентов, персональные рекомендации.</a:t>
            </a:r>
          </a:p>
          <a:p>
            <a:pPr marL="457200" indent="-457200">
              <a:spcBef>
                <a:spcPts val="600"/>
              </a:spcBef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3600" dirty="0">
                <a:latin typeface="Nunito Bold" pitchFamily="2" charset="-52"/>
              </a:rPr>
              <a:t>Безопасность: распознавание лиц, классификация событий.</a:t>
            </a:r>
          </a:p>
          <a:p>
            <a:pPr marL="457200" indent="-457200">
              <a:spcBef>
                <a:spcPts val="600"/>
              </a:spcBef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3600" dirty="0">
                <a:latin typeface="Nunito Bold" pitchFamily="2" charset="-52"/>
              </a:rPr>
              <a:t>Обработка изображений и текста: определение объектов, тональности, категорий документов.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579618-955C-A9D3-2666-B39A58AD5B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3093" y="667807"/>
            <a:ext cx="1087271" cy="10872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CDC6E41-5F87-31A6-326B-292B372E53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76393" y="7492761"/>
            <a:ext cx="1605888" cy="16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0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FFFFFF"/>
            </a:gs>
            <a:gs pos="100000">
              <a:srgbClr val="EEEEEE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007000-E1BB-4E61-A29B-07780A3B5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75" y="2052638"/>
            <a:ext cx="8167902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3" name="default_name"/>
          <p:cNvSpPr/>
          <p:nvPr/>
        </p:nvSpPr>
        <p:spPr>
          <a:xfrm>
            <a:off x="714374" y="714375"/>
            <a:ext cx="8538808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4400" dirty="0">
                <a:solidFill>
                  <a:srgbClr val="0000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Выбор предметной области</a:t>
            </a:r>
          </a:p>
        </p:txBody>
      </p:sp>
      <p:sp>
        <p:nvSpPr>
          <p:cNvPr id="5" name="Text 2"/>
          <p:cNvSpPr/>
          <p:nvPr/>
        </p:nvSpPr>
        <p:spPr>
          <a:xfrm>
            <a:off x="1047749" y="2295525"/>
            <a:ext cx="7591283" cy="550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36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Для демонстрации работы алгоритма k-NN выбрана задача бинарной классификации электронных писем, направленная на определение, является ли письмо спамом или обычным сообщением.</a:t>
            </a:r>
            <a:endParaRPr lang="en-US" sz="3600" dirty="0">
              <a:latin typeface="Nunito Bold" pitchFamily="2" charset="-5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83F5E9-01D1-4921-4652-C85B681D6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5725" y="2778051"/>
            <a:ext cx="8167902" cy="45395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284E34-389A-AE02-5E0B-4182DA8682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6425" y="443909"/>
            <a:ext cx="1160060" cy="116006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AD2B9D-A9E1-B198-5537-09D16ECC8C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76645" y="7767213"/>
            <a:ext cx="154305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6">
            <a:extLst>
              <a:ext uri="{FF2B5EF4-FFF2-40B4-BE49-F238E27FC236}">
                <a16:creationId xmlns:a16="http://schemas.microsoft.com/office/drawing/2014/main" id="{C79D30E1-719A-6209-8D41-CFF41646A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512" y="3301810"/>
            <a:ext cx="5531922" cy="80083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Black_pixel_logoFTC.png" descr="preencoded.png">
            <a:extLst>
              <a:ext uri="{FF2B5EF4-FFF2-40B4-BE49-F238E27FC236}">
                <a16:creationId xmlns:a16="http://schemas.microsoft.com/office/drawing/2014/main" id="{C343A34D-4B86-20D9-635D-32FACB790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4369" y="9020177"/>
            <a:ext cx="1543050" cy="552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default_name">
            <a:extLst>
              <a:ext uri="{FF2B5EF4-FFF2-40B4-BE49-F238E27FC236}">
                <a16:creationId xmlns:a16="http://schemas.microsoft.com/office/drawing/2014/main" id="{EF51499C-7F96-8686-7496-36B775B5BD14}"/>
              </a:ext>
            </a:extLst>
          </p:cNvPr>
          <p:cNvSpPr/>
          <p:nvPr/>
        </p:nvSpPr>
        <p:spPr>
          <a:xfrm>
            <a:off x="727976" y="714370"/>
            <a:ext cx="10963473" cy="8191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defTabSz="914309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100" dirty="0" err="1">
                <a:solidFill>
                  <a:srgbClr val="000000"/>
                </a:solidFill>
                <a:latin typeface="Nunito ExtraBold"/>
              </a:rPr>
              <a:t>Методология</a:t>
            </a:r>
            <a:r>
              <a:rPr lang="en-US" sz="5100" dirty="0">
                <a:solidFill>
                  <a:srgbClr val="000000"/>
                </a:solidFill>
                <a:latin typeface="Nunito ExtraBold"/>
              </a:rPr>
              <a:t> и </a:t>
            </a:r>
            <a:r>
              <a:rPr lang="en-US" sz="5100" dirty="0" err="1">
                <a:solidFill>
                  <a:srgbClr val="000000"/>
                </a:solidFill>
                <a:latin typeface="Nunito ExtraBold"/>
              </a:rPr>
              <a:t>инструментарий</a:t>
            </a:r>
            <a:endParaRPr lang="en-US" sz="510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Slide Number Placeholder 0">
            <a:extLst>
              <a:ext uri="{FF2B5EF4-FFF2-40B4-BE49-F238E27FC236}">
                <a16:creationId xmlns:a16="http://schemas.microsoft.com/office/drawing/2014/main" id="{32056DFA-F149-2A09-82A7-0A02365E20F7}"/>
              </a:ext>
            </a:extLst>
          </p:cNvPr>
          <p:cNvSpPr txBox="1"/>
          <p:nvPr/>
        </p:nvSpPr>
        <p:spPr>
          <a:xfrm>
            <a:off x="17465034" y="9669781"/>
            <a:ext cx="799998" cy="299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37160" tIns="68580" rIns="137160" bIns="68580" anchor="ctr" anchorCtr="0" compatLnSpc="1">
            <a:noAutofit/>
          </a:bodyPr>
          <a:lstStyle/>
          <a:p>
            <a:pPr defTabSz="609566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ED9FF2-4867-48AC-BADA-9489664A48B7}" type="slidenum">
              <a:rPr lang="en-US" sz="1200">
                <a:solidFill>
                  <a:srgbClr val="000000"/>
                </a:solidFill>
                <a:latin typeface="Aptos"/>
                <a:ea typeface="Arial"/>
                <a:cs typeface="Arial"/>
              </a:rPr>
              <a:pPr defTabSz="609566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6</a:t>
            </a:fld>
            <a:endParaRPr lang="en-US" sz="1200">
              <a:solidFill>
                <a:srgbClr val="000000"/>
              </a:solidFill>
              <a:latin typeface="Aptos"/>
              <a:ea typeface="Arial"/>
              <a:cs typeface="Arial"/>
            </a:endParaRPr>
          </a:p>
        </p:txBody>
      </p:sp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5275D34E-892B-0758-8898-8AB6D63C1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006" y="1540457"/>
            <a:ext cx="11217233" cy="17108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3" descr="A screenshot of a computer code&#10;&#10;AI-generated content may be incorrect." hidden="1">
            <a:extLst>
              <a:ext uri="{FF2B5EF4-FFF2-40B4-BE49-F238E27FC236}">
                <a16:creationId xmlns:a16="http://schemas.microsoft.com/office/drawing/2014/main" id="{156CE6C5-0A7D-EFFE-9B59-0DA9B96DD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3737" y="721174"/>
            <a:ext cx="6669542" cy="8871851"/>
          </a:xfrm>
          <a:prstGeom prst="rect">
            <a:avLst/>
          </a:prstGeom>
          <a:noFill/>
          <a:ln cap="flat">
            <a:noFill/>
          </a:ln>
          <a:effectLst>
            <a:outerShdw dist="38098" dir="7799737" algn="tl">
              <a:srgbClr val="000000">
                <a:alpha val="40000"/>
              </a:srgbClr>
            </a:outerShdw>
          </a:effectLst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6CCCA066-FC8F-52B4-0A7E-33983A1AF269}"/>
              </a:ext>
            </a:extLst>
          </p:cNvPr>
          <p:cNvSpPr/>
          <p:nvPr/>
        </p:nvSpPr>
        <p:spPr>
          <a:xfrm>
            <a:off x="1047752" y="1764851"/>
            <a:ext cx="9572876" cy="173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just" defTabSz="914309">
              <a:lnSpc>
                <a:spcPct val="125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dirty="0" err="1">
                <a:solidFill>
                  <a:srgbClr val="000000"/>
                </a:solidFill>
                <a:latin typeface="Nunito Sans SemiBold"/>
              </a:rPr>
              <a:t>Датасет</a:t>
            </a:r>
            <a:r>
              <a:rPr lang="en-US" sz="3000" dirty="0">
                <a:solidFill>
                  <a:srgbClr val="000000"/>
                </a:solidFill>
                <a:latin typeface="Nunito Sans SemiBold"/>
              </a:rPr>
              <a:t>: </a:t>
            </a:r>
            <a:r>
              <a:rPr lang="en-US" sz="3000" dirty="0" err="1">
                <a:solidFill>
                  <a:srgbClr val="000000"/>
                </a:solidFill>
                <a:latin typeface="Nunito Sans SemiBold"/>
              </a:rPr>
              <a:t>Enron_spam_data</a:t>
            </a:r>
            <a:r>
              <a:rPr lang="en-US" sz="3000" dirty="0">
                <a:solidFill>
                  <a:srgbClr val="000000"/>
                </a:solidFill>
                <a:latin typeface="Nunito Sans SemiBold"/>
              </a:rPr>
              <a:t> - </a:t>
            </a:r>
            <a:r>
              <a:rPr lang="ru-RU" sz="3000" dirty="0">
                <a:solidFill>
                  <a:srgbClr val="000000"/>
                </a:solidFill>
                <a:latin typeface="Nunito Sans SemiBold"/>
              </a:rPr>
              <a:t>33311</a:t>
            </a:r>
            <a:r>
              <a:rPr lang="en-US" sz="3000" dirty="0">
                <a:solidFill>
                  <a:srgbClr val="000000"/>
                </a:solidFill>
                <a:latin typeface="Nunito Sans SemiBold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Nunito Sans SemiBold"/>
              </a:rPr>
              <a:t>записей</a:t>
            </a:r>
            <a:r>
              <a:rPr lang="ru-RU" sz="3000" dirty="0">
                <a:solidFill>
                  <a:srgbClr val="000000"/>
                </a:solidFill>
                <a:latin typeface="Nunito Sans SemiBold"/>
              </a:rPr>
              <a:t> писем.</a:t>
            </a:r>
            <a:endParaRPr lang="en-US" dirty="0">
              <a:solidFill>
                <a:srgbClr val="000000"/>
              </a:solidFill>
              <a:latin typeface="Aptos"/>
            </a:endParaRPr>
          </a:p>
          <a:p>
            <a:pPr algn="just" defTabSz="914309">
              <a:lnSpc>
                <a:spcPct val="125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dirty="0" err="1">
                <a:solidFill>
                  <a:srgbClr val="000000"/>
                </a:solidFill>
                <a:latin typeface="Nunito Sans SemiBold"/>
              </a:rPr>
              <a:t>Среда</a:t>
            </a:r>
            <a:r>
              <a:rPr lang="en-US" sz="3000" dirty="0">
                <a:solidFill>
                  <a:srgbClr val="000000"/>
                </a:solidFill>
                <a:latin typeface="Nunito Sans SemiBold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Nunito Sans SemiBold"/>
              </a:rPr>
              <a:t>разработки</a:t>
            </a:r>
            <a:r>
              <a:rPr lang="en-US" sz="3000" dirty="0">
                <a:solidFill>
                  <a:srgbClr val="000000"/>
                </a:solidFill>
                <a:latin typeface="Nunito Sans SemiBold"/>
              </a:rPr>
              <a:t>: </a:t>
            </a:r>
            <a:r>
              <a:rPr lang="en-US" sz="3000" dirty="0" err="1">
                <a:solidFill>
                  <a:srgbClr val="000000"/>
                </a:solidFill>
                <a:latin typeface="Nunito Sans SemiBold"/>
              </a:rPr>
              <a:t>Jupyter</a:t>
            </a:r>
            <a:r>
              <a:rPr lang="en-US" sz="3000" dirty="0">
                <a:solidFill>
                  <a:srgbClr val="000000"/>
                </a:solidFill>
                <a:latin typeface="Nunito Sans SemiBold"/>
              </a:rPr>
              <a:t> Notebook</a:t>
            </a:r>
          </a:p>
          <a:p>
            <a:pPr algn="just" defTabSz="914309">
              <a:lnSpc>
                <a:spcPct val="125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000" dirty="0">
              <a:solidFill>
                <a:srgbClr val="000000"/>
              </a:solidFill>
              <a:latin typeface="Nunito Sans SemiBold"/>
            </a:endParaRPr>
          </a:p>
        </p:txBody>
      </p:sp>
      <p:pic>
        <p:nvPicPr>
          <p:cNvPr id="10" name="Рисунок 8" hidden="1">
            <a:extLst>
              <a:ext uri="{FF2B5EF4-FFF2-40B4-BE49-F238E27FC236}">
                <a16:creationId xmlns:a16="http://schemas.microsoft.com/office/drawing/2014/main" id="{C6716B1F-C07D-A3CD-2ECF-CC0F0E1152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25255" y="714369"/>
            <a:ext cx="5953128" cy="885824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Box 436">
            <a:extLst>
              <a:ext uri="{FF2B5EF4-FFF2-40B4-BE49-F238E27FC236}">
                <a16:creationId xmlns:a16="http://schemas.microsoft.com/office/drawing/2014/main" id="{489437BD-1DDD-E3B8-2A51-0F2309B8248E}"/>
              </a:ext>
            </a:extLst>
          </p:cNvPr>
          <p:cNvSpPr txBox="1"/>
          <p:nvPr/>
        </p:nvSpPr>
        <p:spPr>
          <a:xfrm>
            <a:off x="822412" y="3315239"/>
            <a:ext cx="5421455" cy="569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37160" tIns="68580" rIns="137160" bIns="68580" anchor="t" anchorCtr="0" compatLnSpc="1">
            <a:spAutoFit/>
          </a:bodyPr>
          <a:lstStyle/>
          <a:p>
            <a:pPr defTabSz="13716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dirty="0">
                <a:solidFill>
                  <a:srgbClr val="000000"/>
                </a:solidFill>
                <a:latin typeface="Nunito Bold" pitchFamily="2" charset="-52"/>
              </a:rPr>
              <a:t>Используемые </a:t>
            </a:r>
            <a:r>
              <a:rPr lang="en-US" sz="2800" dirty="0" err="1">
                <a:solidFill>
                  <a:srgbClr val="000000"/>
                </a:solidFill>
                <a:latin typeface="Nunito Bold" pitchFamily="2" charset="-52"/>
              </a:rPr>
              <a:t>библиотеки</a:t>
            </a:r>
            <a:r>
              <a:rPr lang="en-US" sz="2800" dirty="0">
                <a:solidFill>
                  <a:srgbClr val="000000"/>
                </a:solidFill>
                <a:latin typeface="Nunito Bold" pitchFamily="2" charset="-52"/>
              </a:rPr>
              <a:t>:</a:t>
            </a:r>
          </a:p>
        </p:txBody>
      </p:sp>
      <p:pic>
        <p:nvPicPr>
          <p:cNvPr id="14" name="Picture 447" descr="A blue and orange logo&#10;&#10;AI-generated content may be incorrect.">
            <a:extLst>
              <a:ext uri="{FF2B5EF4-FFF2-40B4-BE49-F238E27FC236}">
                <a16:creationId xmlns:a16="http://schemas.microsoft.com/office/drawing/2014/main" id="{7933C6B2-212D-79D3-80AC-096FC1E056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3737" y="5388529"/>
            <a:ext cx="4546236" cy="8063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Graphic 444">
            <a:extLst>
              <a:ext uri="{FF2B5EF4-FFF2-40B4-BE49-F238E27FC236}">
                <a16:creationId xmlns:a16="http://schemas.microsoft.com/office/drawing/2014/main" id="{CA396B7F-0735-F144-7DC9-5ECE891BEF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84471" y="5143500"/>
            <a:ext cx="4499438" cy="17328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7" name="Picture 450" descr="A black and white image of a triangle&#10;&#10;AI-generated content may be incorrect.">
            <a:extLst>
              <a:ext uri="{FF2B5EF4-FFF2-40B4-BE49-F238E27FC236}">
                <a16:creationId xmlns:a16="http://schemas.microsoft.com/office/drawing/2014/main" id="{59D2BA7C-D515-DE09-9F46-20A17B228C0D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19559988" flipH="1">
            <a:off x="483353" y="4853928"/>
            <a:ext cx="1289961" cy="98607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26" name="Picture 2" descr="What is Sklearn? | Domino Data Lab">
            <a:extLst>
              <a:ext uri="{FF2B5EF4-FFF2-40B4-BE49-F238E27FC236}">
                <a16:creationId xmlns:a16="http://schemas.microsoft.com/office/drawing/2014/main" id="{62F0889D-34BB-5D55-A21D-0C87DB946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228" y="6553284"/>
            <a:ext cx="6945477" cy="278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umPy: The Essential Library for Numerical Python That Transforms Data  Science - Locus IT Services Nordic | Your Trusted Partner for Data Science  &amp; Analytics Solutions">
            <a:extLst>
              <a:ext uri="{FF2B5EF4-FFF2-40B4-BE49-F238E27FC236}">
                <a16:creationId xmlns:a16="http://schemas.microsoft.com/office/drawing/2014/main" id="{BA487E72-CE0D-E283-4D9D-6E9E04553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308" y="6876338"/>
            <a:ext cx="5736807" cy="2294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B4E0AB-8ED4-4BC3-B34E-8CC342B3E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433" y="1504950"/>
            <a:ext cx="17261078" cy="383132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047750" y="1733550"/>
            <a:ext cx="15206734" cy="340995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ru-RU" sz="2400" dirty="0">
                <a:latin typeface="Nunito Bold" pitchFamily="2" charset="-52"/>
              </a:rPr>
              <a:t>В работе использован датасет enron_spam_data.csv, содержащий 33 311 электронных писем.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ru-RU" sz="2400" dirty="0">
                <a:latin typeface="Nunito Bold" pitchFamily="2" charset="-52"/>
              </a:rPr>
              <a:t>Структура датасета:</a:t>
            </a:r>
          </a:p>
          <a:p>
            <a:pPr marL="457200" indent="-45720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Nunito Bold" pitchFamily="2" charset="-52"/>
              </a:rPr>
              <a:t>Message ID</a:t>
            </a:r>
          </a:p>
          <a:p>
            <a:pPr marL="457200" indent="-45720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Nunito Bold" pitchFamily="2" charset="-52"/>
              </a:rPr>
              <a:t>Subject</a:t>
            </a:r>
          </a:p>
          <a:p>
            <a:pPr marL="457200" indent="-45720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Nunito Bold" pitchFamily="2" charset="-52"/>
              </a:rPr>
              <a:t>Message</a:t>
            </a:r>
          </a:p>
          <a:p>
            <a:pPr marL="457200" indent="-45720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Nunito Bold" pitchFamily="2" charset="-52"/>
              </a:rPr>
              <a:t>Spam/Ham</a:t>
            </a:r>
          </a:p>
          <a:p>
            <a:pPr marL="457200" indent="-45720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Nunito Bold" pitchFamily="2" charset="-52"/>
              </a:rPr>
              <a:t>Date</a:t>
            </a:r>
            <a:endParaRPr lang="ru-RU" sz="2400" dirty="0">
              <a:latin typeface="Nunito Bold" pitchFamily="2" charset="-52"/>
            </a:endParaRPr>
          </a:p>
          <a:p>
            <a:pPr marL="457200" indent="-457200" algn="l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ru-RU" sz="2400" dirty="0">
              <a:latin typeface="Nunito Bold" pitchFamily="2" charset="-52"/>
            </a:endParaRPr>
          </a:p>
          <a:p>
            <a:pPr algn="l">
              <a:lnSpc>
                <a:spcPct val="125000"/>
              </a:lnSpc>
            </a:pPr>
            <a:endParaRPr lang="en-US" sz="2400" dirty="0">
              <a:latin typeface="Nunito Bold" pitchFamily="2" charset="-52"/>
            </a:endParaRPr>
          </a:p>
        </p:txBody>
      </p:sp>
      <p:sp>
        <p:nvSpPr>
          <p:cNvPr id="4" name="default_name"/>
          <p:cNvSpPr/>
          <p:nvPr/>
        </p:nvSpPr>
        <p:spPr>
          <a:xfrm>
            <a:off x="714374" y="714375"/>
            <a:ext cx="8852707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4800" dirty="0">
                <a:solidFill>
                  <a:schemeClr val="bg1"/>
                </a:solidFill>
                <a:latin typeface="Nunito ExtraBold" pitchFamily="34" charset="0"/>
              </a:rPr>
              <a:t>Выбор исходных данных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2" name="White_pixel_logoFTC.png" descr="preencoded.png">
            <a:extLst>
              <a:ext uri="{FF2B5EF4-FFF2-40B4-BE49-F238E27FC236}">
                <a16:creationId xmlns:a16="http://schemas.microsoft.com/office/drawing/2014/main" id="{A219E179-63A6-4309-BE22-D29676DB31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AC9C0FC-6B28-D08B-565D-F127AC7571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4375" y="5536301"/>
            <a:ext cx="16167906" cy="249667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7AD0136-4D2A-167C-0776-26E1CC6E4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1117" y="388952"/>
            <a:ext cx="1066089" cy="106608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EAEDF45-9BCA-C568-6114-237F666ED8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66962" y="8458058"/>
            <a:ext cx="1114567" cy="11145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fault_name"/>
          <p:cNvSpPr/>
          <p:nvPr/>
        </p:nvSpPr>
        <p:spPr>
          <a:xfrm>
            <a:off x="714375" y="714375"/>
            <a:ext cx="6041267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5400" dirty="0">
                <a:solidFill>
                  <a:srgbClr val="FFFFFF"/>
                </a:solidFill>
                <a:latin typeface="Nunito ExtraBold" pitchFamily="34" charset="0"/>
              </a:rPr>
              <a:t>Очистка данных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6" name="White_pixel_logoFTC.png" descr="preencoded.png">
            <a:extLst>
              <a:ext uri="{FF2B5EF4-FFF2-40B4-BE49-F238E27FC236}">
                <a16:creationId xmlns:a16="http://schemas.microsoft.com/office/drawing/2014/main" id="{9A1C4D92-86DB-4747-A417-40711B4E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B08B74-D826-4DCD-8627-0C5DE44A7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9146" y="2028825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8ACD0C-9349-4E07-9CA0-9EEECFD6D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375" y="2052639"/>
            <a:ext cx="8248650" cy="326998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0070899F-A292-467F-A86E-97B4AB06D02C}"/>
              </a:ext>
            </a:extLst>
          </p:cNvPr>
          <p:cNvSpPr/>
          <p:nvPr/>
        </p:nvSpPr>
        <p:spPr>
          <a:xfrm>
            <a:off x="1085850" y="2238375"/>
            <a:ext cx="7716956" cy="279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36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Для подготовки текстовых данных к классификации применён процесс очистки, реализованный в коде.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E615D19-326A-4AB1-B8A1-D0019CDDEC97}"/>
              </a:ext>
            </a:extLst>
          </p:cNvPr>
          <p:cNvSpPr/>
          <p:nvPr/>
        </p:nvSpPr>
        <p:spPr>
          <a:xfrm>
            <a:off x="9801225" y="2238375"/>
            <a:ext cx="7419975" cy="545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Нормализация регистра — приведение текста к нижнему регистру для единообразия. 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Удаление стоп-слов — исключение служебных и доменно-специфичных слов, не влияющих на классификацию. 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Очистка от гиперссылок — удаление URL-адресов, не несущих полезной текстовой информации. 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Удаление числовых последовательностей — фильтрация чисел, как незначимых для семантики писем.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8577DB2-D0EE-51A9-E9DC-EC863BD648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5642" y="368490"/>
            <a:ext cx="1165035" cy="116503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E9E3A31-59FC-B6BF-E5FC-2684714104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3337" y="5841741"/>
            <a:ext cx="2861981" cy="2861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fault_name"/>
          <p:cNvSpPr/>
          <p:nvPr/>
        </p:nvSpPr>
        <p:spPr>
          <a:xfrm>
            <a:off x="714375" y="714375"/>
            <a:ext cx="6041267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5400" dirty="0">
                <a:solidFill>
                  <a:srgbClr val="FFFFFF"/>
                </a:solidFill>
                <a:latin typeface="Nunito ExtraBold" pitchFamily="34" charset="0"/>
              </a:rPr>
              <a:t>Очистка данных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6" name="White_pixel_logoFTC.png" descr="preencoded.png">
            <a:extLst>
              <a:ext uri="{FF2B5EF4-FFF2-40B4-BE49-F238E27FC236}">
                <a16:creationId xmlns:a16="http://schemas.microsoft.com/office/drawing/2014/main" id="{9A1C4D92-86DB-4747-A417-40711B4E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B08B74-D826-4DCD-8627-0C5DE44A7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9146" y="2028825"/>
            <a:ext cx="7546908" cy="349851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8ACD0C-9349-4E07-9CA0-9EEECFD6D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375" y="2052638"/>
            <a:ext cx="8248650" cy="5938838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0070899F-A292-467F-A86E-97B4AB06D02C}"/>
              </a:ext>
            </a:extLst>
          </p:cNvPr>
          <p:cNvSpPr/>
          <p:nvPr/>
        </p:nvSpPr>
        <p:spPr>
          <a:xfrm>
            <a:off x="1085850" y="2238375"/>
            <a:ext cx="7419975" cy="545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Удаление пунктуации — устранение символов, не влияющих на смысл содержания. 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Обработка аномальных значений — замена или удаление некорректных элементов типа </a:t>
            </a:r>
            <a:r>
              <a:rPr lang="ru-RU" sz="2400" dirty="0" err="1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nan</a:t>
            </a: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 или пустых строк. 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Удаление дубликатов — исключение повторяющихся сообщений для избегания переобучения. 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24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Формирование очищенного текста — приведение данных к унифицированному и стабильному виду.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E615D19-326A-4AB1-B8A1-D0019CDDEC97}"/>
              </a:ext>
            </a:extLst>
          </p:cNvPr>
          <p:cNvSpPr/>
          <p:nvPr/>
        </p:nvSpPr>
        <p:spPr>
          <a:xfrm>
            <a:off x="9801225" y="2235958"/>
            <a:ext cx="7070099" cy="3084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3200" dirty="0">
                <a:solidFill>
                  <a:srgbClr val="000000"/>
                </a:solidFill>
                <a:latin typeface="Nunito Bold" pitchFamily="2" charset="-52"/>
                <a:ea typeface="Nunito Regular" pitchFamily="34" charset="-122"/>
                <a:cs typeface="Nunito Regular" pitchFamily="34" charset="-120"/>
              </a:rPr>
              <a:t>Получен очищенный и структурированный текстовый корпус, пригодный для последующей векторизации и применения алгоритма k-NN.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AB5BAD-BB02-9BC2-8D1A-DF7594B2A0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5642" y="418958"/>
            <a:ext cx="1114567" cy="111456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EF06D5-0E0D-A9A1-2982-3CD7B84054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044" y="6715658"/>
            <a:ext cx="1961084" cy="19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4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F213FA-C078-4727-8B29-C692F401E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75" y="1928596"/>
            <a:ext cx="16859250" cy="617110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048694" y="2199331"/>
            <a:ext cx="16238290" cy="5983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500"/>
              </a:lnSpc>
              <a:buNone/>
            </a:pPr>
            <a:r>
              <a:rPr lang="ru-RU" sz="3600" dirty="0">
                <a:latin typeface="Nunito Bold" pitchFamily="2" charset="-52"/>
              </a:rPr>
              <a:t>Настройка TF-IDF </a:t>
            </a:r>
            <a:r>
              <a:rPr lang="ru-RU" sz="3600" dirty="0" err="1">
                <a:latin typeface="Nunito Bold" pitchFamily="2" charset="-52"/>
              </a:rPr>
              <a:t>векторизатора</a:t>
            </a:r>
            <a:r>
              <a:rPr lang="ru-RU" sz="3600" dirty="0">
                <a:latin typeface="Nunito Bold" pitchFamily="2" charset="-52"/>
              </a:rPr>
              <a:t>: 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3600" dirty="0" err="1">
                <a:latin typeface="Nunito Bold" pitchFamily="2" charset="-52"/>
              </a:rPr>
              <a:t>stop_words</a:t>
            </a:r>
            <a:r>
              <a:rPr lang="ru-RU" sz="3600" dirty="0">
                <a:latin typeface="Nunito Bold" pitchFamily="2" charset="-52"/>
              </a:rPr>
              <a:t>='</a:t>
            </a:r>
            <a:r>
              <a:rPr lang="ru-RU" sz="3600" dirty="0" err="1">
                <a:latin typeface="Nunito Bold" pitchFamily="2" charset="-52"/>
              </a:rPr>
              <a:t>english</a:t>
            </a:r>
            <a:r>
              <a:rPr lang="ru-RU" sz="3600" dirty="0">
                <a:latin typeface="Nunito Bold" pitchFamily="2" charset="-52"/>
              </a:rPr>
              <a:t>' — исключение общих слов, не несущих смысловой нагрузки. 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3600" dirty="0" err="1">
                <a:latin typeface="Nunito Bold" pitchFamily="2" charset="-52"/>
              </a:rPr>
              <a:t>max_features</a:t>
            </a:r>
            <a:r>
              <a:rPr lang="ru-RU" sz="3600" dirty="0">
                <a:latin typeface="Nunito Bold" pitchFamily="2" charset="-52"/>
              </a:rPr>
              <a:t>=33 000 — ограничение числа признаков. 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3600" dirty="0" err="1">
                <a:latin typeface="Nunito Bold" pitchFamily="2" charset="-52"/>
              </a:rPr>
              <a:t>ngram_range</a:t>
            </a:r>
            <a:r>
              <a:rPr lang="ru-RU" sz="3600" dirty="0">
                <a:latin typeface="Nunito Bold" pitchFamily="2" charset="-52"/>
              </a:rPr>
              <a:t>=(1,2) — учет отдельных слов и сочетаний, для выявления спам-фраз. 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3600" dirty="0" err="1">
                <a:latin typeface="Nunito Bold" pitchFamily="2" charset="-52"/>
              </a:rPr>
              <a:t>max_df</a:t>
            </a:r>
            <a:r>
              <a:rPr lang="ru-RU" sz="3600" dirty="0">
                <a:latin typeface="Nunito Bold" pitchFamily="2" charset="-52"/>
              </a:rPr>
              <a:t>=0.85 и </a:t>
            </a:r>
            <a:r>
              <a:rPr lang="ru-RU" sz="3600" dirty="0" err="1">
                <a:latin typeface="Nunito Bold" pitchFamily="2" charset="-52"/>
              </a:rPr>
              <a:t>min_df</a:t>
            </a:r>
            <a:r>
              <a:rPr lang="ru-RU" sz="3600" dirty="0">
                <a:latin typeface="Nunito Bold" pitchFamily="2" charset="-52"/>
              </a:rPr>
              <a:t>=3 — удаление слишком частых и редких слов.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3600" dirty="0" err="1">
                <a:latin typeface="Nunito Bold" pitchFamily="2" charset="-52"/>
              </a:rPr>
              <a:t>sublinear_tf</a:t>
            </a:r>
            <a:r>
              <a:rPr lang="ru-RU" sz="3600" dirty="0">
                <a:latin typeface="Nunito Bold" pitchFamily="2" charset="-52"/>
              </a:rPr>
              <a:t>=True — сглаживание влияния часто встречающихся слов.</a:t>
            </a:r>
            <a:endParaRPr lang="en-US" sz="3600" dirty="0">
              <a:latin typeface="Nunito Bold" pitchFamily="2" charset="-52"/>
            </a:endParaRPr>
          </a:p>
        </p:txBody>
      </p:sp>
      <p:sp>
        <p:nvSpPr>
          <p:cNvPr id="3" name="default_name"/>
          <p:cNvSpPr/>
          <p:nvPr/>
        </p:nvSpPr>
        <p:spPr>
          <a:xfrm>
            <a:off x="714375" y="714375"/>
            <a:ext cx="1320634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600" dirty="0">
                <a:solidFill>
                  <a:schemeClr val="bg1"/>
                </a:solidFill>
                <a:latin typeface="Nunito ExtraBold" pitchFamily="2" charset="-52"/>
              </a:rPr>
              <a:t>Преобразование текстовых данных в числовой формат</a:t>
            </a:r>
            <a:endParaRPr lang="en-US" sz="3600" dirty="0">
              <a:solidFill>
                <a:schemeClr val="bg1"/>
              </a:solidFill>
              <a:latin typeface="Nunito ExtraBold" pitchFamily="2" charset="-5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5" name="White_pixel_logoFTC.png" descr="preencoded.png">
            <a:extLst>
              <a:ext uri="{FF2B5EF4-FFF2-40B4-BE49-F238E27FC236}">
                <a16:creationId xmlns:a16="http://schemas.microsoft.com/office/drawing/2014/main" id="{C5035495-29AD-4F3C-89AF-313BADA692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30F831-EAB6-79A0-C2F0-52A0E75C9B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20717" y="304800"/>
            <a:ext cx="819150" cy="8191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C8E828-E9A4-2965-924F-5C7B189E0F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85578" y="8464649"/>
            <a:ext cx="1278340" cy="1278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F213FA-C078-4727-8B29-C692F401E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75" y="1916564"/>
            <a:ext cx="16859250" cy="564429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048694" y="2212979"/>
            <a:ext cx="16238290" cy="5983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500"/>
              </a:lnSpc>
              <a:buNone/>
            </a:pPr>
            <a:r>
              <a:rPr lang="ru-RU" sz="40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Процесс векторизации: </a:t>
            </a:r>
          </a:p>
          <a:p>
            <a:pPr marL="0" indent="0" algn="l">
              <a:lnSpc>
                <a:spcPct val="112500"/>
              </a:lnSpc>
              <a:buNone/>
            </a:pPr>
            <a:r>
              <a:rPr lang="ru-RU" sz="40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Разделение на обучающую и тестовую выборки: 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40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Обучающая: 80% данных (26 649 писем) 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40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Тестовая: 20% данных (6 662 письма) 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4000" dirty="0" err="1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stratify</a:t>
            </a:r>
            <a:r>
              <a:rPr lang="ru-RU" sz="40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=y — сохранение исходного распределения классов </a:t>
            </a:r>
          </a:p>
          <a:p>
            <a:pPr marL="457200" indent="-457200" algn="l">
              <a:lnSpc>
                <a:spcPct val="1125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ru-RU" sz="4000" dirty="0" err="1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random_state</a:t>
            </a:r>
            <a:r>
              <a:rPr lang="ru-RU" sz="40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=42 — обеспечение воспроизводимости результатов</a:t>
            </a:r>
            <a:endParaRPr lang="en-US" sz="4000" dirty="0">
              <a:latin typeface="Nunito Bold" pitchFamily="2" charset="-52"/>
            </a:endParaRPr>
          </a:p>
        </p:txBody>
      </p:sp>
      <p:sp>
        <p:nvSpPr>
          <p:cNvPr id="3" name="default_name"/>
          <p:cNvSpPr/>
          <p:nvPr/>
        </p:nvSpPr>
        <p:spPr>
          <a:xfrm>
            <a:off x="714375" y="714375"/>
            <a:ext cx="1320634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600" dirty="0">
                <a:solidFill>
                  <a:schemeClr val="bg1"/>
                </a:solidFill>
                <a:latin typeface="Nunito ExtraBold" pitchFamily="2" charset="-52"/>
              </a:rPr>
              <a:t>Преобразование текстовых данных в числовой формат</a:t>
            </a:r>
            <a:endParaRPr lang="en-US" sz="3600" dirty="0">
              <a:solidFill>
                <a:schemeClr val="bg1"/>
              </a:solidFill>
              <a:latin typeface="Nunito ExtraBold" pitchFamily="2" charset="-5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5" name="White_pixel_logoFTC.png" descr="preencoded.png">
            <a:extLst>
              <a:ext uri="{FF2B5EF4-FFF2-40B4-BE49-F238E27FC236}">
                <a16:creationId xmlns:a16="http://schemas.microsoft.com/office/drawing/2014/main" id="{C5035495-29AD-4F3C-89AF-313BADA692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ACB3E94-3001-3022-7EBD-5F68588862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20716" y="304800"/>
            <a:ext cx="928048" cy="9280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5CD34DE-19A9-F16F-3E03-54EF710B09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86422" y="7996636"/>
            <a:ext cx="1295922" cy="129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6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fault_name"/>
          <p:cNvSpPr/>
          <p:nvPr/>
        </p:nvSpPr>
        <p:spPr>
          <a:xfrm>
            <a:off x="714375" y="714375"/>
            <a:ext cx="780097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54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Балансировка данных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5" name="White_pixel_logoFTC.png" descr="preencoded.png">
            <a:extLst>
              <a:ext uri="{FF2B5EF4-FFF2-40B4-BE49-F238E27FC236}">
                <a16:creationId xmlns:a16="http://schemas.microsoft.com/office/drawing/2014/main" id="{04DE0E8C-9A90-4929-AFE2-14ED6739E0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C28992-2C16-4D32-8C51-87B146E74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374" y="2052638"/>
            <a:ext cx="9453207" cy="6654634"/>
          </a:xfrm>
          <a:prstGeom prst="rect">
            <a:avLst/>
          </a:prstGeom>
          <a:effectLst>
            <a:outerShdw blurRad="3175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F3F9A894-851F-4DAE-AE39-ABFC137F65BE}"/>
              </a:ext>
            </a:extLst>
          </p:cNvPr>
          <p:cNvSpPr/>
          <p:nvPr/>
        </p:nvSpPr>
        <p:spPr>
          <a:xfrm>
            <a:off x="1047749" y="2295525"/>
            <a:ext cx="8969708" cy="536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ru-RU" sz="3600" dirty="0">
                <a:latin typeface="Nunito Bold" pitchFamily="2" charset="-52"/>
              </a:rPr>
              <a:t>Применение SMOTE: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3600" dirty="0">
                <a:latin typeface="Nunito Bold" pitchFamily="2" charset="-52"/>
              </a:rPr>
              <a:t>Метод SMOTE создаёт синтетические примеры для класса «спам», избегая простого дублирования. 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3600" dirty="0">
                <a:latin typeface="Nunito Bold" pitchFamily="2" charset="-52"/>
              </a:rPr>
              <a:t>Параметр </a:t>
            </a:r>
            <a:r>
              <a:rPr lang="ru-RU" sz="3600" dirty="0" err="1">
                <a:latin typeface="Nunito Bold" pitchFamily="2" charset="-52"/>
              </a:rPr>
              <a:t>sampling_strategy</a:t>
            </a:r>
            <a:r>
              <a:rPr lang="ru-RU" sz="3600" dirty="0">
                <a:latin typeface="Nunito Bold" pitchFamily="2" charset="-52"/>
              </a:rPr>
              <a:t>=0.5 увеличивает </a:t>
            </a:r>
            <a:r>
              <a:rPr lang="ru-RU" sz="3600" dirty="0" err="1">
                <a:latin typeface="Nunito Bold" pitchFamily="2" charset="-52"/>
              </a:rPr>
              <a:t>minority</a:t>
            </a:r>
            <a:r>
              <a:rPr lang="ru-RU" sz="3600" dirty="0">
                <a:latin typeface="Nunito Bold" pitchFamily="2" charset="-52"/>
              </a:rPr>
              <a:t>-класс до 50% от </a:t>
            </a:r>
            <a:r>
              <a:rPr lang="ru-RU" sz="3600" dirty="0" err="1">
                <a:latin typeface="Nunito Bold" pitchFamily="2" charset="-52"/>
              </a:rPr>
              <a:t>majority</a:t>
            </a:r>
            <a:r>
              <a:rPr lang="ru-RU" sz="3600" dirty="0">
                <a:latin typeface="Nunito Bold" pitchFamily="2" charset="-52"/>
              </a:rPr>
              <a:t>-класса. </a:t>
            </a:r>
          </a:p>
          <a:p>
            <a:pPr marL="342900" indent="-342900">
              <a:lnSpc>
                <a:spcPct val="1250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ru-RU" sz="3600" dirty="0" err="1">
                <a:latin typeface="Nunito Bold" pitchFamily="2" charset="-52"/>
              </a:rPr>
              <a:t>random_state</a:t>
            </a:r>
            <a:r>
              <a:rPr lang="ru-RU" sz="3600" dirty="0">
                <a:latin typeface="Nunito Bold" pitchFamily="2" charset="-52"/>
              </a:rPr>
              <a:t>=42 обеспечивает воспроизводимость результатов.</a:t>
            </a:r>
            <a:endParaRPr lang="en-US" sz="3600" dirty="0">
              <a:latin typeface="Nunito Bold" pitchFamily="2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8E1EEC-3234-FDCE-0444-F2F3D2C8E6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0848" y="2052638"/>
            <a:ext cx="6188963" cy="17431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792CAAA-A82F-1EF1-3100-C398727D8F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3913" y="4378299"/>
            <a:ext cx="5582831" cy="304908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0DE2E4-04BD-AF9C-74AE-B8406F1A2E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8724" y="427772"/>
            <a:ext cx="967711" cy="96771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85E8666-38D6-354E-3107-2158C72A89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10060" y="8200809"/>
            <a:ext cx="1371816" cy="13718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714375" y="714375"/>
            <a:ext cx="956238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54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Оценка и настройки </a:t>
            </a:r>
            <a:r>
              <a:rPr lang="en-US" sz="54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k-NN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5" name="White_pixel_logoFTC.png" descr="preencoded.png">
            <a:extLst>
              <a:ext uri="{FF2B5EF4-FFF2-40B4-BE49-F238E27FC236}">
                <a16:creationId xmlns:a16="http://schemas.microsoft.com/office/drawing/2014/main" id="{C336B0A1-3E90-449F-9F41-50ECE828E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0E7804-223D-4308-B151-ECCCC7BB8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4977" y="2019300"/>
            <a:ext cx="8248650" cy="5678037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B7C219-B146-458C-99CE-3567877CB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375" y="2019300"/>
            <a:ext cx="8248650" cy="5527447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3E0AB12C-F6A2-47C5-853F-7192B07F230B}"/>
              </a:ext>
            </a:extLst>
          </p:cNvPr>
          <p:cNvSpPr/>
          <p:nvPr/>
        </p:nvSpPr>
        <p:spPr>
          <a:xfrm>
            <a:off x="1048616" y="2228850"/>
            <a:ext cx="706755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500"/>
              </a:lnSpc>
              <a:buNone/>
            </a:pPr>
            <a:r>
              <a:rPr lang="ru-RU" sz="3600" kern="0" dirty="0">
                <a:effectLst/>
                <a:latin typeface="Nunito Bold" pitchFamily="2" charset="-52"/>
                <a:ea typeface="Aptos" panose="020B0004020202020204" pitchFamily="34" charset="0"/>
              </a:rPr>
              <a:t>Для достижения оптимальной производительности алгоритма k ближайших соседей был проведен тщательный подбор </a:t>
            </a:r>
            <a:r>
              <a:rPr lang="ru-RU" sz="3600" kern="0" dirty="0" err="1">
                <a:effectLst/>
                <a:latin typeface="Nunito Bold" pitchFamily="2" charset="-52"/>
                <a:ea typeface="Aptos" panose="020B0004020202020204" pitchFamily="34" charset="0"/>
              </a:rPr>
              <a:t>гиперпараметров</a:t>
            </a:r>
            <a:r>
              <a:rPr lang="ru-RU" sz="3600" kern="0" dirty="0">
                <a:effectLst/>
                <a:latin typeface="Nunito Bold" pitchFamily="2" charset="-52"/>
                <a:ea typeface="Aptos" panose="020B0004020202020204" pitchFamily="34" charset="0"/>
              </a:rPr>
              <a:t> с использованием метода </a:t>
            </a:r>
            <a:r>
              <a:rPr lang="ru-RU" sz="3600" kern="0" dirty="0" err="1">
                <a:effectLst/>
                <a:latin typeface="Nunito Bold" pitchFamily="2" charset="-52"/>
                <a:ea typeface="Aptos" panose="020B0004020202020204" pitchFamily="34" charset="0"/>
              </a:rPr>
              <a:t>GridSearchCV</a:t>
            </a:r>
            <a:r>
              <a:rPr lang="ru-RU" sz="3600" kern="0" dirty="0">
                <a:effectLst/>
                <a:latin typeface="Nunito Bold" pitchFamily="2" charset="-52"/>
                <a:ea typeface="Aptos" panose="020B0004020202020204" pitchFamily="34" charset="0"/>
              </a:rPr>
              <a:t> и Метода Локтя.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DF1B26-F434-55DA-4D24-FE8690B9E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7519" y="389729"/>
            <a:ext cx="991634" cy="99163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85F8D7-79A9-1F66-651F-56A4380BE6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301" y="2171462"/>
            <a:ext cx="7666901" cy="47751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0574CA-560A-3E4A-739E-808A67979A04}"/>
              </a:ext>
            </a:extLst>
          </p:cNvPr>
          <p:cNvSpPr txBox="1"/>
          <p:nvPr/>
        </p:nvSpPr>
        <p:spPr>
          <a:xfrm>
            <a:off x="10121730" y="7085082"/>
            <a:ext cx="7117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Nunito Bold" pitchFamily="2" charset="-52"/>
              </a:rPr>
              <a:t>Рисунок 1 – Подбор </a:t>
            </a:r>
            <a:r>
              <a:rPr lang="en-US" sz="2400" dirty="0">
                <a:latin typeface="Nunito Bold" pitchFamily="2" charset="-52"/>
              </a:rPr>
              <a:t>k-</a:t>
            </a:r>
            <a:r>
              <a:rPr lang="ru-RU" sz="2400" dirty="0">
                <a:latin typeface="Nunito Bold" pitchFamily="2" charset="-52"/>
              </a:rPr>
              <a:t>соседей методом Локтя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692D03B-834C-A18E-BCD6-4756A6A73D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18764" y="8267700"/>
            <a:ext cx="1336530" cy="13365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fault_name"/>
          <p:cNvSpPr/>
          <p:nvPr/>
        </p:nvSpPr>
        <p:spPr>
          <a:xfrm>
            <a:off x="714375" y="714375"/>
            <a:ext cx="956238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54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Оценка и настройки </a:t>
            </a:r>
            <a:r>
              <a:rPr lang="en-US" sz="54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k-NN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5" name="White_pixel_logoFTC.png" descr="preencoded.png">
            <a:extLst>
              <a:ext uri="{FF2B5EF4-FFF2-40B4-BE49-F238E27FC236}">
                <a16:creationId xmlns:a16="http://schemas.microsoft.com/office/drawing/2014/main" id="{C336B0A1-3E90-449F-9F41-50ECE828E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0E7804-223D-4308-B151-ECCCC7BB8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17344" y="2018731"/>
            <a:ext cx="6869732" cy="5419299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B7C219-B146-458C-99CE-3567877CB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375" y="2019300"/>
            <a:ext cx="9407356" cy="6516726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3E0AB12C-F6A2-47C5-853F-7192B07F230B}"/>
              </a:ext>
            </a:extLst>
          </p:cNvPr>
          <p:cNvSpPr/>
          <p:nvPr/>
        </p:nvSpPr>
        <p:spPr>
          <a:xfrm>
            <a:off x="1048615" y="2228849"/>
            <a:ext cx="8927897" cy="605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500"/>
              </a:lnSpc>
              <a:buNone/>
            </a:pPr>
            <a:r>
              <a:rPr lang="ru-RU" sz="2600" kern="0" dirty="0">
                <a:effectLst/>
                <a:latin typeface="Nunito Bold" pitchFamily="2" charset="-52"/>
                <a:ea typeface="Aptos" panose="020B0004020202020204" pitchFamily="34" charset="0"/>
              </a:rPr>
              <a:t>По показаниям метода Локтя, выбраны следующи</a:t>
            </a: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е </a:t>
            </a:r>
            <a:r>
              <a:rPr lang="ru-RU" sz="2600" kern="0" dirty="0" err="1">
                <a:latin typeface="Nunito Bold" pitchFamily="2" charset="-52"/>
                <a:ea typeface="Aptos" panose="020B0004020202020204" pitchFamily="34" charset="0"/>
              </a:rPr>
              <a:t>гиперпараметры</a:t>
            </a: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:</a:t>
            </a:r>
          </a:p>
          <a:p>
            <a:pPr marL="342900" indent="-342900" algn="l">
              <a:lnSpc>
                <a:spcPct val="1125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US" sz="2600" kern="0" dirty="0" err="1">
                <a:latin typeface="Nunito Bold" pitchFamily="2" charset="-52"/>
                <a:ea typeface="Aptos" panose="020B0004020202020204" pitchFamily="34" charset="0"/>
              </a:rPr>
              <a:t>n_neighbors</a:t>
            </a:r>
            <a:r>
              <a:rPr lang="en-US" sz="2600" kern="0" dirty="0">
                <a:latin typeface="Nunito Bold" pitchFamily="2" charset="-52"/>
                <a:ea typeface="Aptos" panose="020B0004020202020204" pitchFamily="34" charset="0"/>
              </a:rPr>
              <a:t> = 15 → </a:t>
            </a: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количество ближайших соседей.</a:t>
            </a:r>
          </a:p>
          <a:p>
            <a:pPr marL="342900" indent="-342900" algn="l">
              <a:lnSpc>
                <a:spcPct val="1125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US" sz="2600" kern="0" dirty="0">
                <a:latin typeface="Nunito Bold" pitchFamily="2" charset="-52"/>
                <a:ea typeface="Aptos" panose="020B0004020202020204" pitchFamily="34" charset="0"/>
              </a:rPr>
              <a:t>metric = cosine → </a:t>
            </a: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метрика расстояния. </a:t>
            </a:r>
          </a:p>
          <a:p>
            <a:pPr marL="342900" indent="-342900" algn="l">
              <a:lnSpc>
                <a:spcPct val="1125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US" sz="2600" kern="0" dirty="0">
                <a:latin typeface="Nunito Bold" pitchFamily="2" charset="-52"/>
                <a:ea typeface="Aptos" panose="020B0004020202020204" pitchFamily="34" charset="0"/>
              </a:rPr>
              <a:t>cv = 5 → 5-</a:t>
            </a: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кратная кросс-валидация. </a:t>
            </a:r>
          </a:p>
          <a:p>
            <a:pPr marL="342900" indent="-342900" algn="l">
              <a:lnSpc>
                <a:spcPct val="112500"/>
              </a:lnSpc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lang="en-US" sz="2600" kern="0" dirty="0">
                <a:latin typeface="Nunito Bold" pitchFamily="2" charset="-52"/>
                <a:ea typeface="Aptos" panose="020B0004020202020204" pitchFamily="34" charset="0"/>
              </a:rPr>
              <a:t>scoring = F1 → </a:t>
            </a: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оптимизация по </a:t>
            </a:r>
            <a:r>
              <a:rPr lang="en-US" sz="2600" kern="0" dirty="0">
                <a:latin typeface="Nunito Bold" pitchFamily="2" charset="-52"/>
                <a:ea typeface="Aptos" panose="020B0004020202020204" pitchFamily="34" charset="0"/>
              </a:rPr>
              <a:t>F1-score.</a:t>
            </a:r>
            <a:endParaRPr lang="ru-RU" sz="2600" kern="0" dirty="0">
              <a:latin typeface="Nunito Bold" pitchFamily="2" charset="-52"/>
              <a:ea typeface="Aptos" panose="020B0004020202020204" pitchFamily="34" charset="0"/>
            </a:endParaRPr>
          </a:p>
          <a:p>
            <a:pPr marL="0" indent="0" algn="l">
              <a:lnSpc>
                <a:spcPct val="112500"/>
              </a:lnSpc>
              <a:buNone/>
            </a:pP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Результаты на тестовой выборке: </a:t>
            </a:r>
          </a:p>
          <a:p>
            <a:pPr marL="342900" indent="-342900" algn="l">
              <a:lnSpc>
                <a:spcPct val="1125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ru-RU" sz="2600" kern="0" dirty="0" err="1">
                <a:latin typeface="Nunito Bold" pitchFamily="2" charset="-52"/>
                <a:ea typeface="Aptos" panose="020B0004020202020204" pitchFamily="34" charset="0"/>
              </a:rPr>
              <a:t>Accuracy</a:t>
            </a: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: 0.98 </a:t>
            </a:r>
          </a:p>
          <a:p>
            <a:pPr marL="342900" indent="-342900" algn="l">
              <a:lnSpc>
                <a:spcPct val="1125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Precision / </a:t>
            </a:r>
            <a:r>
              <a:rPr lang="ru-RU" sz="2600" kern="0" dirty="0" err="1">
                <a:latin typeface="Nunito Bold" pitchFamily="2" charset="-52"/>
                <a:ea typeface="Aptos" panose="020B0004020202020204" pitchFamily="34" charset="0"/>
              </a:rPr>
              <a:t>Recall</a:t>
            </a: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 / F1-score: 0.98 для обоих классов.</a:t>
            </a:r>
          </a:p>
          <a:p>
            <a:pPr marL="0" indent="0" algn="l">
              <a:lnSpc>
                <a:spcPct val="112500"/>
              </a:lnSpc>
              <a:buNone/>
            </a:pPr>
            <a:endParaRPr lang="ru-RU" sz="2600" kern="0" dirty="0">
              <a:latin typeface="Nunito Bold" pitchFamily="2" charset="-52"/>
              <a:ea typeface="Aptos" panose="020B0004020202020204" pitchFamily="34" charset="0"/>
            </a:endParaRPr>
          </a:p>
          <a:p>
            <a:pPr marL="0" indent="0" algn="l">
              <a:lnSpc>
                <a:spcPct val="112500"/>
              </a:lnSpc>
              <a:buNone/>
            </a:pP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Кросс-валидация: </a:t>
            </a:r>
          </a:p>
          <a:p>
            <a:pPr marL="342900" indent="-342900" algn="l">
              <a:lnSpc>
                <a:spcPct val="112500"/>
              </a:lnSpc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ru-RU" sz="2600" kern="0" dirty="0">
                <a:latin typeface="Nunito Bold" pitchFamily="2" charset="-52"/>
                <a:ea typeface="Aptos" panose="020B0004020202020204" pitchFamily="34" charset="0"/>
              </a:rPr>
              <a:t>Средняя точность: 0.974 ± 0.004 → модель стабильна и устойчива.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0574CA-560A-3E4A-739E-808A67979A04}"/>
              </a:ext>
            </a:extLst>
          </p:cNvPr>
          <p:cNvSpPr txBox="1"/>
          <p:nvPr/>
        </p:nvSpPr>
        <p:spPr>
          <a:xfrm>
            <a:off x="11327370" y="6745972"/>
            <a:ext cx="5849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Nunito Bold" pitchFamily="2" charset="-52"/>
              </a:rPr>
              <a:t>Рисунок 2 – Показатели модели </a:t>
            </a:r>
            <a:r>
              <a:rPr lang="en-US" sz="2400" dirty="0">
                <a:latin typeface="Nunito Bold" pitchFamily="2" charset="-52"/>
              </a:rPr>
              <a:t>k-NN</a:t>
            </a:r>
            <a:endParaRPr lang="ru-RU" sz="2400" dirty="0">
              <a:latin typeface="Nunito Bold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5992B94-BF01-B4A8-F265-5F08AF94F9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1731" y="423081"/>
            <a:ext cx="1110444" cy="11104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A59A07-85F9-66B8-173C-5B2A510523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12203" y="7923236"/>
            <a:ext cx="1401171" cy="140117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9907F5F-AE8D-77E8-89B6-E7A305DCB5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88997" y="2246426"/>
            <a:ext cx="5726425" cy="429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54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F8875333-895B-4538-AB59-AAD68AE84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178" y="5152598"/>
            <a:ext cx="4213986" cy="2794380"/>
          </a:xfrm>
          <a:prstGeom prst="rect">
            <a:avLst/>
          </a:prstGeom>
        </p:spPr>
      </p:pic>
      <p:sp>
        <p:nvSpPr>
          <p:cNvPr id="16" name="default_name"/>
          <p:cNvSpPr/>
          <p:nvPr/>
        </p:nvSpPr>
        <p:spPr>
          <a:xfrm>
            <a:off x="714375" y="714375"/>
            <a:ext cx="1278326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54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Принцип работы мини приложения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8" name="White_pixel_logoFTC.png" descr="preencoded.png">
            <a:extLst>
              <a:ext uri="{FF2B5EF4-FFF2-40B4-BE49-F238E27FC236}">
                <a16:creationId xmlns:a16="http://schemas.microsoft.com/office/drawing/2014/main" id="{E4E0E5EB-24C0-481E-82FB-84EC32C36D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D964F7-DBE2-16AA-B6DB-DBC43532C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6551" y="426634"/>
            <a:ext cx="1016048" cy="101604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0D99E1-4B20-F176-140D-A7E5C6CC93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9805" y="8931128"/>
            <a:ext cx="1038652" cy="1038652"/>
          </a:xfrm>
          <a:prstGeom prst="rect">
            <a:avLst/>
          </a:prstGeom>
        </p:spPr>
      </p:pic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12037C63-826F-1DF8-07C0-2C0F33B64A3A}"/>
              </a:ext>
            </a:extLst>
          </p:cNvPr>
          <p:cNvSpPr/>
          <p:nvPr/>
        </p:nvSpPr>
        <p:spPr>
          <a:xfrm>
            <a:off x="4689575" y="6135323"/>
            <a:ext cx="1760561" cy="81915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0FC95C1A-6AEA-50A5-9BFF-8B11E1AB9251}"/>
              </a:ext>
            </a:extLst>
          </p:cNvPr>
          <p:cNvSpPr/>
          <p:nvPr/>
        </p:nvSpPr>
        <p:spPr>
          <a:xfrm>
            <a:off x="11591048" y="6135323"/>
            <a:ext cx="1760561" cy="81915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ABEB131F-C7FE-AC65-72B0-323526E1D3E1}"/>
              </a:ext>
            </a:extLst>
          </p:cNvPr>
          <p:cNvSpPr/>
          <p:nvPr/>
        </p:nvSpPr>
        <p:spPr>
          <a:xfrm>
            <a:off x="218364" y="5285948"/>
            <a:ext cx="818866" cy="818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Nunito Bold" pitchFamily="2" charset="-52"/>
              </a:rPr>
              <a:t>1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46B50B6-E3A5-7C75-F676-B402E85E2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798" y="5161696"/>
            <a:ext cx="4213986" cy="279438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8DBB112D-8F8A-5830-F316-74AE6D12CAC3}"/>
              </a:ext>
            </a:extLst>
          </p:cNvPr>
          <p:cNvSpPr/>
          <p:nvPr/>
        </p:nvSpPr>
        <p:spPr>
          <a:xfrm>
            <a:off x="6948984" y="5295046"/>
            <a:ext cx="818866" cy="818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Nunito Bold" pitchFamily="2" charset="-52"/>
              </a:rPr>
              <a:t>2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F492F21-568B-0DAE-D7C3-FC32981D2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29670" y="5161696"/>
            <a:ext cx="4213986" cy="2794380"/>
          </a:xfrm>
          <a:prstGeom prst="rect">
            <a:avLst/>
          </a:prstGeom>
        </p:spPr>
      </p:pic>
      <p:sp>
        <p:nvSpPr>
          <p:cNvPr id="27" name="Овал 26">
            <a:extLst>
              <a:ext uri="{FF2B5EF4-FFF2-40B4-BE49-F238E27FC236}">
                <a16:creationId xmlns:a16="http://schemas.microsoft.com/office/drawing/2014/main" id="{EC94F897-A8BF-42BA-352F-BFB1D8046569}"/>
              </a:ext>
            </a:extLst>
          </p:cNvPr>
          <p:cNvSpPr/>
          <p:nvPr/>
        </p:nvSpPr>
        <p:spPr>
          <a:xfrm>
            <a:off x="13726856" y="5295046"/>
            <a:ext cx="818866" cy="818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Nunito Bold" pitchFamily="2" charset="-52"/>
              </a:rPr>
              <a:t>3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73D5E1A-D7DE-1594-79A9-21ADAC84D2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375" y="1741460"/>
            <a:ext cx="15717529" cy="2556737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BAB2A1A-1642-7212-EF7F-08EE7E5123EC}"/>
              </a:ext>
            </a:extLst>
          </p:cNvPr>
          <p:cNvSpPr txBox="1"/>
          <p:nvPr/>
        </p:nvSpPr>
        <p:spPr>
          <a:xfrm>
            <a:off x="1037230" y="1975034"/>
            <a:ext cx="15092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Nunito Bold" pitchFamily="2" charset="-52"/>
              </a:rPr>
              <a:t>Что делает: </a:t>
            </a:r>
          </a:p>
          <a:p>
            <a:r>
              <a:rPr lang="ru-RU" sz="2800" dirty="0">
                <a:latin typeface="Nunito Bold" pitchFamily="2" charset="-52"/>
              </a:rPr>
              <a:t>Классифицирует текстовые сообщения в реальном времени как спам или не спам.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CF9213-5887-666E-71B7-E3722664439E}"/>
              </a:ext>
            </a:extLst>
          </p:cNvPr>
          <p:cNvSpPr txBox="1"/>
          <p:nvPr/>
        </p:nvSpPr>
        <p:spPr>
          <a:xfrm>
            <a:off x="1037230" y="3586094"/>
            <a:ext cx="2590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Nunito Bold" pitchFamily="2" charset="-52"/>
              </a:rPr>
              <a:t>Архитектура: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6C0BD1-0EAD-5DC5-BA5B-F1D7428C3601}"/>
              </a:ext>
            </a:extLst>
          </p:cNvPr>
          <p:cNvSpPr txBox="1"/>
          <p:nvPr/>
        </p:nvSpPr>
        <p:spPr>
          <a:xfrm>
            <a:off x="343803" y="6354308"/>
            <a:ext cx="3563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Nunito Bold" pitchFamily="2" charset="-52"/>
              </a:rPr>
              <a:t>Загрузка обученной модели k-NN и TF-IDF </a:t>
            </a:r>
            <a:r>
              <a:rPr lang="ru-RU" sz="2400" dirty="0" err="1">
                <a:latin typeface="Nunito Bold" pitchFamily="2" charset="-52"/>
              </a:rPr>
              <a:t>векторизатора</a:t>
            </a:r>
            <a:r>
              <a:rPr lang="ru-RU" sz="2400" dirty="0">
                <a:latin typeface="Nunito Bold" pitchFamily="2" charset="-52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8AF11C-51A2-9190-5D0C-596518431EEA}"/>
              </a:ext>
            </a:extLst>
          </p:cNvPr>
          <p:cNvSpPr txBox="1"/>
          <p:nvPr/>
        </p:nvSpPr>
        <p:spPr>
          <a:xfrm>
            <a:off x="7080356" y="6156829"/>
            <a:ext cx="39854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Nunito Bold" pitchFamily="2" charset="-52"/>
              </a:rPr>
              <a:t>Предобработка текста, преобразование в векторы, предсказание класса.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31F0D8-BED5-6E1C-FFB4-C1F56E4EE78F}"/>
              </a:ext>
            </a:extLst>
          </p:cNvPr>
          <p:cNvSpPr txBox="1"/>
          <p:nvPr/>
        </p:nvSpPr>
        <p:spPr>
          <a:xfrm>
            <a:off x="13876873" y="6124994"/>
            <a:ext cx="38556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Nunito Bold" pitchFamily="2" charset="-52"/>
              </a:rPr>
              <a:t>Интерактивный режим: последовательная обработка сообщений, выход по «</a:t>
            </a:r>
            <a:r>
              <a:rPr lang="ru-RU" sz="2400" dirty="0" err="1">
                <a:latin typeface="Nunito Bold" pitchFamily="2" charset="-52"/>
              </a:rPr>
              <a:t>exit</a:t>
            </a:r>
            <a:r>
              <a:rPr lang="ru-RU" sz="2400" dirty="0">
                <a:latin typeface="Nunito Bold" pitchFamily="2" charset="-52"/>
              </a:rPr>
              <a:t>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gradFill flip="none" rotWithShape="1">
          <a:gsLst>
            <a:gs pos="100000">
              <a:srgbClr val="286FE5"/>
            </a:gs>
            <a:gs pos="0">
              <a:srgbClr val="3E719B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fault_name"/>
          <p:cNvSpPr/>
          <p:nvPr/>
        </p:nvSpPr>
        <p:spPr>
          <a:xfrm>
            <a:off x="714374" y="714375"/>
            <a:ext cx="10927166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5400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Особенности мини приложения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5" name="White_pixel_logoFTC.png" descr="preencoded.png">
            <a:extLst>
              <a:ext uri="{FF2B5EF4-FFF2-40B4-BE49-F238E27FC236}">
                <a16:creationId xmlns:a16="http://schemas.microsoft.com/office/drawing/2014/main" id="{903FA435-D98F-4B36-B9B0-C760B922F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8" name="Slide Number Placeholder 0">
            <a:extLst>
              <a:ext uri="{FF2B5EF4-FFF2-40B4-BE49-F238E27FC236}">
                <a16:creationId xmlns:a16="http://schemas.microsoft.com/office/drawing/2014/main" id="{8EF52A02-7B17-46BA-80D3-7D1699871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68A5D35-4536-4E9B-8360-F490E1A192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374" y="2019300"/>
            <a:ext cx="16620875" cy="3562634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55CFF309-090E-4144-8205-CAF25CAAD693}"/>
              </a:ext>
            </a:extLst>
          </p:cNvPr>
          <p:cNvSpPr/>
          <p:nvPr/>
        </p:nvSpPr>
        <p:spPr>
          <a:xfrm>
            <a:off x="952750" y="2200275"/>
            <a:ext cx="16101716" cy="321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Консистентная обработка с обучением </a:t>
            </a: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Масштабируемость: одиночные сообщения и </a:t>
            </a:r>
            <a:r>
              <a:rPr lang="ru-RU" sz="2800" dirty="0" err="1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батчи</a:t>
            </a:r>
            <a:r>
              <a:rPr lang="ru-RU" sz="28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 </a:t>
            </a: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Интуитивный интерфейс </a:t>
            </a: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ru-RU" sz="28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Быстрая и точная классификация </a:t>
            </a:r>
          </a:p>
          <a:p>
            <a:pPr>
              <a:lnSpc>
                <a:spcPct val="125000"/>
              </a:lnSpc>
            </a:pPr>
            <a:r>
              <a:rPr lang="ru-RU" sz="28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Результат: </a:t>
            </a:r>
          </a:p>
          <a:p>
            <a:pPr>
              <a:lnSpc>
                <a:spcPct val="125000"/>
              </a:lnSpc>
            </a:pPr>
            <a:r>
              <a:rPr lang="ru-RU" sz="2800" dirty="0">
                <a:solidFill>
                  <a:srgbClr val="000000"/>
                </a:solidFill>
                <a:latin typeface="Nunito Bold" pitchFamily="2" charset="-52"/>
                <a:ea typeface="Nunito Sans SemiBold" pitchFamily="34" charset="-122"/>
                <a:cs typeface="Nunito Sans SemiBold" pitchFamily="34" charset="-120"/>
              </a:rPr>
              <a:t>Приложение успешно распознаёт спам, демонстрируя практическую полезность модели.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FBC37A-9A2C-D11E-89D1-8E438FCA0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5762909"/>
            <a:ext cx="16521066" cy="2768476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D88511D-AF6C-117D-5179-6BA69BE49B30}"/>
              </a:ext>
            </a:extLst>
          </p:cNvPr>
          <p:cNvSpPr/>
          <p:nvPr/>
        </p:nvSpPr>
        <p:spPr>
          <a:xfrm>
            <a:off x="3870645" y="8937293"/>
            <a:ext cx="10208525" cy="5524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ysClr val="windowText" lastClr="000000"/>
                </a:solidFill>
                <a:latin typeface="Nunito Bold" pitchFamily="2" charset="-52"/>
              </a:rPr>
              <a:t>Рисунок 3 – Проверка работоспособности мини приложения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493D344-AB90-A518-C9DC-1ECB5DC457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2735" y="280135"/>
            <a:ext cx="1146412" cy="114641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08ADCF6-9D21-957E-BDA6-6897A9F532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49601" y="8754604"/>
            <a:ext cx="964442" cy="9644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_pixel_logoFTC.png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9020175"/>
            <a:ext cx="1543050" cy="55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1265" y="24953"/>
            <a:ext cx="4008973" cy="158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0"/>
              </a:lnSpc>
              <a:buNone/>
            </a:pPr>
            <a:r>
              <a:rPr lang="ru-RU" sz="4800" b="1" dirty="0">
                <a:solidFill>
                  <a:srgbClr val="000000"/>
                </a:solidFill>
                <a:latin typeface="Nunito ExtraBold" pitchFamily="2" charset="-52"/>
                <a:ea typeface="Nunito Bold" pitchFamily="34" charset="-122"/>
                <a:cs typeface="Nunito Bold" pitchFamily="34" charset="-120"/>
              </a:rPr>
              <a:t>Заключение</a:t>
            </a:r>
            <a:endParaRPr lang="en-US" sz="4800" dirty="0">
              <a:latin typeface="Nunito ExtraBold" pitchFamily="2" charset="-52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556480" y="96697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4DDEF3-0CAC-0BB0-6121-D3CFE6A7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265" y="2281236"/>
            <a:ext cx="7704142" cy="4699309"/>
          </a:xfrm>
          <a:prstGeom prst="rect">
            <a:avLst/>
          </a:prstGeom>
          <a:effectLst>
            <a:outerShdw blurRad="3175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3C1344-0731-5B5D-3CDE-210809FD2219}"/>
              </a:ext>
            </a:extLst>
          </p:cNvPr>
          <p:cNvSpPr txBox="1"/>
          <p:nvPr/>
        </p:nvSpPr>
        <p:spPr>
          <a:xfrm>
            <a:off x="795095" y="2465767"/>
            <a:ext cx="676398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>
                <a:latin typeface="Nunito Bold" pitchFamily="2" charset="-52"/>
              </a:rPr>
              <a:t>В ходе работы успешно реализован алгоритм k ближайших соседей для бинарной классификации текстовых данных на примере фильтрации спам-писем.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52F850F-BB37-CD24-7DCD-E3F1D27607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914" y="469068"/>
            <a:ext cx="855260" cy="85526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ECDA80-B0A2-A7C3-2100-B04F29989A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11" b="90535" l="7222" r="92111">
                        <a14:foregroundMark x1="8444" y1="35857" x2="8444" y2="35857"/>
                        <a14:foregroundMark x1="55556" y1="90535" x2="55556" y2="90535"/>
                        <a14:foregroundMark x1="61556" y1="21492" x2="61556" y2="21492"/>
                        <a14:foregroundMark x1="60444" y1="24833" x2="60444" y2="24833"/>
                        <a14:foregroundMark x1="54667" y1="21381" x2="54667" y2="21381"/>
                        <a14:foregroundMark x1="76778" y1="27840" x2="76778" y2="27840"/>
                        <a14:foregroundMark x1="82333" y1="39644" x2="82333" y2="39644"/>
                        <a14:foregroundMark x1="66000" y1="47439" x2="66000" y2="47439"/>
                        <a14:foregroundMark x1="92222" y1="28619" x2="92222" y2="28619"/>
                        <a14:foregroundMark x1="7222" y1="34744" x2="7222" y2="34744"/>
                        <a14:foregroundMark x1="53889" y1="26949" x2="53889" y2="26949"/>
                        <a14:foregroundMark x1="56556" y1="24276" x2="56556" y2="242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39633" y="7236215"/>
            <a:ext cx="2560480" cy="2554790"/>
          </a:xfrm>
          <a:prstGeom prst="rect">
            <a:avLst/>
          </a:prstGeom>
        </p:spPr>
      </p:pic>
      <p:pic>
        <p:nvPicPr>
          <p:cNvPr id="1026" name="Picture 2" descr="Идеи на тему «Лёха» (20) | лех, молодые знаменитости, стримеры">
            <a:extLst>
              <a:ext uri="{FF2B5EF4-FFF2-40B4-BE49-F238E27FC236}">
                <a16:creationId xmlns:a16="http://schemas.microsoft.com/office/drawing/2014/main" id="{A7CD69D4-8136-5BDD-A645-8247469B1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416" y="1379525"/>
            <a:ext cx="5886457" cy="585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711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872</Words>
  <Application>Microsoft Office PowerPoint</Application>
  <PresentationFormat>Произвольный</PresentationFormat>
  <Paragraphs>134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Nunito Bold</vt:lpstr>
      <vt:lpstr>Nunito ExtraBold</vt:lpstr>
      <vt:lpstr>Nunito Sans SemiBold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Виктор</cp:lastModifiedBy>
  <cp:revision>48</cp:revision>
  <dcterms:created xsi:type="dcterms:W3CDTF">2025-10-16T18:17:35Z</dcterms:created>
  <dcterms:modified xsi:type="dcterms:W3CDTF">2025-11-17T12:58:14Z</dcterms:modified>
</cp:coreProperties>
</file>